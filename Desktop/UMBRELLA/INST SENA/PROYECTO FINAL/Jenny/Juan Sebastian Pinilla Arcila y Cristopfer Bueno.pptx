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9" r:id="rId1"/>
  </p:sldMasterIdLst>
  <p:notesMasterIdLst>
    <p:notesMasterId r:id="rId3"/>
  </p:notesMasterIdLst>
  <p:sldIdLst>
    <p:sldId id="269" r:id="rId2"/>
  </p:sldIdLst>
  <p:sldSz cx="24384000" cy="13716000"/>
  <p:notesSz cx="6858000" cy="9144000"/>
  <p:embeddedFontLst>
    <p:embeddedFont>
      <p:font typeface="Helvetica Neue" panose="020B0604020202020204" charset="0"/>
      <p:regular r:id="rId4"/>
      <p:bold r:id="rId5"/>
      <p:italic r:id="rId6"/>
      <p:boldItalic r:id="rId7"/>
    </p:embeddedFont>
    <p:embeddedFont>
      <p:font typeface="Ubuntu" panose="020B0504030602030204" pitchFamily="34" charset="0"/>
      <p:regular r:id="rId8"/>
      <p:bold r:id="rId9"/>
      <p:italic r:id="rId10"/>
      <p:boldItalic r:id="rId1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D41DCFE-E4EC-4725-B236-D41DF643B1CE}">
  <a:tblStyle styleId="{FD41DCFE-E4EC-4725-B236-D41DF643B1CE}" styleName="Table_0">
    <a:wholeTbl>
      <a:tcTxStyle b="off" i="off">
        <a:font>
          <a:latin typeface="Avenir Next Medium"/>
          <a:ea typeface="Avenir Next Medium"/>
          <a:cs typeface="Avenir Next Medium"/>
        </a:font>
        <a:srgbClr val="5B5854"/>
      </a:tcTxStyle>
      <a:tcStyle>
        <a:tcBdr>
          <a:left>
            <a:ln w="25400" cap="flat" cmpd="sng">
              <a:solidFill>
                <a:srgbClr val="5B5854"/>
              </a:solidFill>
              <a:prstDash val="dashDot"/>
              <a:round/>
              <a:headEnd type="none" w="sm" len="sm"/>
              <a:tailEnd type="none" w="sm" len="sm"/>
            </a:ln>
          </a:left>
          <a:right>
            <a:ln w="25400" cap="flat" cmpd="sng">
              <a:solidFill>
                <a:srgbClr val="5B5854"/>
              </a:solidFill>
              <a:prstDash val="dashDot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5B5854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5B5854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5B5854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25400" cap="flat" cmpd="sng">
              <a:solidFill>
                <a:srgbClr val="5B5854"/>
              </a:solidFill>
              <a:prstDash val="dashDot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 b="off" i="off"/>
      <a:tcStyle>
        <a:tcBdr/>
        <a:fill>
          <a:solidFill>
            <a:srgbClr val="FFFFFF">
              <a:alpha val="16862"/>
            </a:srgbClr>
          </a:solidFill>
        </a:fill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 b="on" i="off">
        <a:font>
          <a:latin typeface="Avenir Next Demi Bold"/>
          <a:ea typeface="Avenir Next Demi Bold"/>
          <a:cs typeface="Avenir Next Demi Bold"/>
        </a:font>
        <a:srgbClr val="5B5854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38100" cap="flat" cmpd="sng">
              <a:solidFill>
                <a:srgbClr val="5B5854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5B5854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5B5854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5B5854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5B5854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809E35">
              <a:alpha val="9803"/>
            </a:srgbClr>
          </a:solidFill>
        </a:fill>
      </a:tcStyle>
    </a:firstCol>
    <a:lastRow>
      <a:tcTxStyle b="on" i="off">
        <a:font>
          <a:latin typeface="Avenir Next Demi Bold"/>
          <a:ea typeface="Avenir Next Demi Bold"/>
          <a:cs typeface="Avenir Next Demi Bold"/>
        </a:font>
        <a:srgbClr val="5B5854"/>
      </a:tcTxStyle>
      <a:tcStyle>
        <a:tcBdr>
          <a:left>
            <a:ln w="12700" cap="flat" cmpd="sng">
              <a:solidFill>
                <a:srgbClr val="5B5854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5B5854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38100" cap="flat" cmpd="sng">
              <a:solidFill>
                <a:srgbClr val="5B5854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5B5854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5B5854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venir Next Demi Bold"/>
          <a:ea typeface="Avenir Next Demi Bold"/>
          <a:cs typeface="Avenir Next Demi Bold"/>
        </a:font>
        <a:srgbClr val="5B5854"/>
      </a:tcTxStyle>
      <a:tcStyle>
        <a:tcBdr>
          <a:left>
            <a:ln w="12700" cap="flat" cmpd="sng">
              <a:solidFill>
                <a:srgbClr val="5B5854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5B5854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38100" cap="flat" cmpd="sng">
              <a:solidFill>
                <a:srgbClr val="5B5854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5B5854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5B5854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619E5C">
              <a:alpha val="14901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32" d="100"/>
          <a:sy n="32" d="100"/>
        </p:scale>
        <p:origin x="99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viewProps" Target="viewProps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5" Type="http://schemas.openxmlformats.org/officeDocument/2006/relationships/font" Target="fonts/font2.fntdata"/><Relationship Id="rId15" Type="http://schemas.openxmlformats.org/officeDocument/2006/relationships/tableStyles" Target="tableStyles.xml"/><Relationship Id="rId10" Type="http://schemas.openxmlformats.org/officeDocument/2006/relationships/font" Target="fonts/font7.fntdata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Merriweather Sans"/>
                <a:ea typeface="Merriweather Sans"/>
                <a:cs typeface="Merriweather Sans"/>
                <a:sym typeface="Merriweather Sans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Merriweather Sans"/>
                <a:ea typeface="Merriweather Sans"/>
                <a:cs typeface="Merriweather Sans"/>
                <a:sym typeface="Merriweather Sans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Merriweather Sans"/>
                <a:ea typeface="Merriweather Sans"/>
                <a:cs typeface="Merriweather Sans"/>
                <a:sym typeface="Merriweather Sans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Merriweather Sans"/>
                <a:ea typeface="Merriweather Sans"/>
                <a:cs typeface="Merriweather Sans"/>
                <a:sym typeface="Merriweather Sa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Merriweather Sans"/>
                <a:ea typeface="Merriweather Sans"/>
                <a:cs typeface="Merriweather Sans"/>
                <a:sym typeface="Merriweather Sa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Merriweather Sans"/>
                <a:ea typeface="Merriweather Sans"/>
                <a:cs typeface="Merriweather Sans"/>
                <a:sym typeface="Merriweather Sa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Merriweather Sans"/>
                <a:ea typeface="Merriweather Sans"/>
                <a:cs typeface="Merriweather Sans"/>
                <a:sym typeface="Merriweather Sa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Merriweather Sans"/>
                <a:ea typeface="Merriweather Sans"/>
                <a:cs typeface="Merriweather Sans"/>
                <a:sym typeface="Merriweather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lean Slide" type="title">
  <p:cSld name="TITLE"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sldNum" idx="12"/>
          </p:nvPr>
        </p:nvSpPr>
        <p:spPr>
          <a:xfrm>
            <a:off x="22491191" y="792733"/>
            <a:ext cx="768859" cy="5354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3C40"/>
              </a:buClr>
              <a:buSzPts val="3000"/>
              <a:buFont typeface="Ubuntu"/>
              <a:buNone/>
              <a:defRPr sz="3000" b="0" i="0" u="none" strike="noStrike" cap="none">
                <a:solidFill>
                  <a:srgbClr val="323C40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3C40"/>
              </a:buClr>
              <a:buSzPts val="3000"/>
              <a:buFont typeface="Ubuntu"/>
              <a:buNone/>
              <a:defRPr sz="3000" b="0" i="0" u="none" strike="noStrike" cap="none">
                <a:solidFill>
                  <a:srgbClr val="323C40"/>
                </a:solidFill>
                <a:latin typeface="Ubuntu"/>
                <a:ea typeface="Ubuntu"/>
                <a:cs typeface="Ubuntu"/>
                <a:sym typeface="Ubuntu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3C40"/>
              </a:buClr>
              <a:buSzPts val="3000"/>
              <a:buFont typeface="Ubuntu"/>
              <a:buNone/>
              <a:defRPr sz="3000" b="0" i="0" u="none" strike="noStrike" cap="none">
                <a:solidFill>
                  <a:srgbClr val="323C40"/>
                </a:solidFill>
                <a:latin typeface="Ubuntu"/>
                <a:ea typeface="Ubuntu"/>
                <a:cs typeface="Ubuntu"/>
                <a:sym typeface="Ubuntu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3C40"/>
              </a:buClr>
              <a:buSzPts val="3000"/>
              <a:buFont typeface="Ubuntu"/>
              <a:buNone/>
              <a:defRPr sz="3000" b="0" i="0" u="none" strike="noStrike" cap="none">
                <a:solidFill>
                  <a:srgbClr val="323C40"/>
                </a:solidFill>
                <a:latin typeface="Ubuntu"/>
                <a:ea typeface="Ubuntu"/>
                <a:cs typeface="Ubuntu"/>
                <a:sym typeface="Ubuntu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3C40"/>
              </a:buClr>
              <a:buSzPts val="3000"/>
              <a:buFont typeface="Ubuntu"/>
              <a:buNone/>
              <a:defRPr sz="3000" b="0" i="0" u="none" strike="noStrike" cap="none">
                <a:solidFill>
                  <a:srgbClr val="323C40"/>
                </a:solidFill>
                <a:latin typeface="Ubuntu"/>
                <a:ea typeface="Ubuntu"/>
                <a:cs typeface="Ubuntu"/>
                <a:sym typeface="Ubuntu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3C40"/>
              </a:buClr>
              <a:buSzPts val="3000"/>
              <a:buFont typeface="Ubuntu"/>
              <a:buNone/>
              <a:defRPr sz="3000" b="0" i="0" u="none" strike="noStrike" cap="none">
                <a:solidFill>
                  <a:srgbClr val="323C40"/>
                </a:solidFill>
                <a:latin typeface="Ubuntu"/>
                <a:ea typeface="Ubuntu"/>
                <a:cs typeface="Ubuntu"/>
                <a:sym typeface="Ubuntu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3C40"/>
              </a:buClr>
              <a:buSzPts val="3000"/>
              <a:buFont typeface="Ubuntu"/>
              <a:buNone/>
              <a:defRPr sz="3000" b="0" i="0" u="none" strike="noStrike" cap="none">
                <a:solidFill>
                  <a:srgbClr val="323C40"/>
                </a:solidFill>
                <a:latin typeface="Ubuntu"/>
                <a:ea typeface="Ubuntu"/>
                <a:cs typeface="Ubuntu"/>
                <a:sym typeface="Ubuntu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3C40"/>
              </a:buClr>
              <a:buSzPts val="3000"/>
              <a:buFont typeface="Ubuntu"/>
              <a:buNone/>
              <a:defRPr sz="3000" b="0" i="0" u="none" strike="noStrike" cap="none">
                <a:solidFill>
                  <a:srgbClr val="323C40"/>
                </a:solidFill>
                <a:latin typeface="Ubuntu"/>
                <a:ea typeface="Ubuntu"/>
                <a:cs typeface="Ubuntu"/>
                <a:sym typeface="Ubuntu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3C40"/>
              </a:buClr>
              <a:buSzPts val="3000"/>
              <a:buFont typeface="Ubuntu"/>
              <a:buNone/>
              <a:defRPr sz="3000" b="0" i="0" u="none" strike="noStrike" cap="none">
                <a:solidFill>
                  <a:srgbClr val="323C40"/>
                </a:solidFill>
                <a:latin typeface="Ubuntu"/>
                <a:ea typeface="Ubuntu"/>
                <a:cs typeface="Ubuntu"/>
                <a:sym typeface="Ubuntu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modelocanvas.net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6"/>
          <p:cNvSpPr/>
          <p:nvPr/>
        </p:nvSpPr>
        <p:spPr>
          <a:xfrm>
            <a:off x="1210090" y="2171346"/>
            <a:ext cx="4106070" cy="6768452"/>
          </a:xfrm>
          <a:prstGeom prst="rect">
            <a:avLst/>
          </a:prstGeom>
          <a:noFill/>
          <a:ln w="63500" cap="flat" cmpd="sng">
            <a:solidFill>
              <a:schemeClr val="accent3"/>
            </a:solidFill>
            <a:prstDash val="solid"/>
            <a:miter lim="400000"/>
            <a:headEnd type="none" w="sm" len="sm"/>
            <a:tailEnd type="none" w="sm" len="sm"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Helvetica Neue"/>
              <a:buNone/>
            </a:pPr>
            <a:endParaRPr sz="5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16"/>
          <p:cNvSpPr/>
          <p:nvPr/>
        </p:nvSpPr>
        <p:spPr>
          <a:xfrm>
            <a:off x="5677292" y="1621732"/>
            <a:ext cx="4084633" cy="3221994"/>
          </a:xfrm>
          <a:prstGeom prst="rect">
            <a:avLst/>
          </a:prstGeom>
          <a:noFill/>
          <a:ln w="63500" cap="flat" cmpd="sng">
            <a:solidFill>
              <a:schemeClr val="accent3"/>
            </a:solidFill>
            <a:prstDash val="solid"/>
            <a:miter lim="400000"/>
            <a:headEnd type="none" w="sm" len="sm"/>
            <a:tailEnd type="none" w="sm" len="sm"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Helvetica Neue"/>
              <a:buNone/>
            </a:pPr>
            <a:endParaRPr sz="5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16"/>
          <p:cNvSpPr/>
          <p:nvPr/>
        </p:nvSpPr>
        <p:spPr>
          <a:xfrm>
            <a:off x="5658752" y="5737690"/>
            <a:ext cx="4103300" cy="3221994"/>
          </a:xfrm>
          <a:prstGeom prst="rect">
            <a:avLst/>
          </a:prstGeom>
          <a:noFill/>
          <a:ln w="63500" cap="flat" cmpd="sng">
            <a:solidFill>
              <a:schemeClr val="accent3"/>
            </a:solidFill>
            <a:prstDash val="solid"/>
            <a:miter lim="400000"/>
            <a:headEnd type="none" w="sm" len="sm"/>
            <a:tailEnd type="none" w="sm" len="sm"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Helvetica Neue"/>
              <a:buNone/>
            </a:pPr>
            <a:endParaRPr sz="5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16"/>
          <p:cNvSpPr/>
          <p:nvPr/>
        </p:nvSpPr>
        <p:spPr>
          <a:xfrm>
            <a:off x="10137629" y="1131340"/>
            <a:ext cx="4115832" cy="6768452"/>
          </a:xfrm>
          <a:prstGeom prst="rect">
            <a:avLst/>
          </a:prstGeom>
          <a:noFill/>
          <a:ln w="63500" cap="flat" cmpd="sng">
            <a:solidFill>
              <a:schemeClr val="accent3"/>
            </a:solidFill>
            <a:prstDash val="solid"/>
            <a:miter lim="400000"/>
            <a:headEnd type="none" w="sm" len="sm"/>
            <a:tailEnd type="none" w="sm" len="sm"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Helvetica Neue"/>
              <a:buNone/>
            </a:pPr>
            <a:r>
              <a:rPr lang="es-ES" sz="2200" dirty="0"/>
              <a:t>Ofrecemos una </a:t>
            </a:r>
            <a:r>
              <a:rPr lang="es-ES" sz="2200" dirty="0" err="1"/>
              <a:t>solucion</a:t>
            </a:r>
            <a:r>
              <a:rPr lang="es-ES" sz="2200" dirty="0"/>
              <a:t> innovadora para gestionar publicidad digital. Con </a:t>
            </a:r>
            <a:r>
              <a:rPr lang="es-ES" sz="2200" i="1" dirty="0" err="1"/>
              <a:t>Inno</a:t>
            </a:r>
            <a:r>
              <a:rPr lang="es-ES" sz="2200" i="1" dirty="0"/>
              <a:t> Ad</a:t>
            </a:r>
            <a:r>
              <a:rPr lang="es-ES" sz="2200" dirty="0"/>
              <a:t>, los clientes </a:t>
            </a:r>
            <a:r>
              <a:rPr lang="es-ES" sz="2200" dirty="0" err="1"/>
              <a:t>podran</a:t>
            </a:r>
            <a:r>
              <a:rPr lang="es-ES" sz="2200" dirty="0"/>
              <a:t> controlar y programar anuncios remotamente con flexibilidad, seguridad y eficiencia. Garantizamos una experiencia sin complicaciones, eliminando riesgos de los </a:t>
            </a:r>
            <a:r>
              <a:rPr lang="es-ES" sz="2200" dirty="0" err="1"/>
              <a:t>metodos</a:t>
            </a:r>
            <a:r>
              <a:rPr lang="es-ES" sz="2200" dirty="0"/>
              <a:t> tradicionales y permitiendo ediciones en tiempo real adaptadas a las necesidades de cada cliente</a:t>
            </a:r>
            <a:endParaRPr sz="2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16"/>
          <p:cNvSpPr/>
          <p:nvPr/>
        </p:nvSpPr>
        <p:spPr>
          <a:xfrm>
            <a:off x="14519715" y="1621319"/>
            <a:ext cx="4188510" cy="3223031"/>
          </a:xfrm>
          <a:prstGeom prst="rect">
            <a:avLst/>
          </a:prstGeom>
          <a:noFill/>
          <a:ln w="63500" cap="flat" cmpd="sng">
            <a:solidFill>
              <a:schemeClr val="accent3"/>
            </a:solidFill>
            <a:prstDash val="solid"/>
            <a:miter lim="400000"/>
            <a:headEnd type="none" w="sm" len="sm"/>
            <a:tailEnd type="none" w="sm" len="sm"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Helvetica Neue"/>
              <a:buNone/>
            </a:pPr>
            <a:endParaRPr sz="5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16"/>
          <p:cNvSpPr/>
          <p:nvPr/>
        </p:nvSpPr>
        <p:spPr>
          <a:xfrm>
            <a:off x="14556254" y="5736075"/>
            <a:ext cx="4115946" cy="3225625"/>
          </a:xfrm>
          <a:prstGeom prst="rect">
            <a:avLst/>
          </a:prstGeom>
          <a:noFill/>
          <a:ln w="63500" cap="flat" cmpd="sng">
            <a:solidFill>
              <a:schemeClr val="accent3"/>
            </a:solidFill>
            <a:prstDash val="solid"/>
            <a:miter lim="400000"/>
            <a:headEnd type="none" w="sm" len="sm"/>
            <a:tailEnd type="none" w="sm" len="sm"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Helvetica Neue"/>
              <a:buNone/>
            </a:pPr>
            <a:endParaRPr sz="5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16"/>
          <p:cNvSpPr/>
          <p:nvPr/>
        </p:nvSpPr>
        <p:spPr>
          <a:xfrm>
            <a:off x="1167375" y="9668815"/>
            <a:ext cx="10851209" cy="2382852"/>
          </a:xfrm>
          <a:prstGeom prst="rect">
            <a:avLst/>
          </a:prstGeom>
          <a:noFill/>
          <a:ln w="63500" cap="flat" cmpd="sng">
            <a:solidFill>
              <a:schemeClr val="accent3"/>
            </a:solidFill>
            <a:prstDash val="solid"/>
            <a:miter lim="400000"/>
            <a:headEnd type="none" w="sm" len="sm"/>
            <a:tailEnd type="none" w="sm" len="sm"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Helvetica Neue"/>
              <a:buNone/>
            </a:pPr>
            <a:endParaRPr sz="5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16"/>
          <p:cNvSpPr/>
          <p:nvPr/>
        </p:nvSpPr>
        <p:spPr>
          <a:xfrm>
            <a:off x="12292985" y="9656313"/>
            <a:ext cx="10854633" cy="2382852"/>
          </a:xfrm>
          <a:prstGeom prst="rect">
            <a:avLst/>
          </a:prstGeom>
          <a:noFill/>
          <a:ln w="63500" cap="flat" cmpd="sng">
            <a:solidFill>
              <a:schemeClr val="accent3"/>
            </a:solidFill>
            <a:prstDash val="solid"/>
            <a:miter lim="400000"/>
            <a:headEnd type="none" w="sm" len="sm"/>
            <a:tailEnd type="none" w="sm" len="sm"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Helvetica Neue"/>
              <a:buNone/>
            </a:pPr>
            <a:endParaRPr sz="5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16"/>
          <p:cNvSpPr/>
          <p:nvPr/>
        </p:nvSpPr>
        <p:spPr>
          <a:xfrm>
            <a:off x="1168707" y="1176286"/>
            <a:ext cx="4188535" cy="78790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Helvetica Neue"/>
              <a:buNone/>
            </a:pPr>
            <a:endParaRPr sz="5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16"/>
          <p:cNvSpPr/>
          <p:nvPr/>
        </p:nvSpPr>
        <p:spPr>
          <a:xfrm>
            <a:off x="1921211" y="1276346"/>
            <a:ext cx="2694384" cy="475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Ubuntu"/>
              <a:buNone/>
            </a:pPr>
            <a:r>
              <a:rPr lang="en-US" sz="3200" b="1" i="0" u="none" strike="noStrike" cap="none" dirty="0" err="1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Socios</a:t>
            </a:r>
            <a:r>
              <a:rPr lang="en-US" sz="3200" b="1" i="0" u="none" strike="noStrike" cap="none" dirty="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 Clave</a:t>
            </a:r>
            <a:endParaRPr sz="3200" dirty="0"/>
          </a:p>
        </p:txBody>
      </p:sp>
      <p:sp>
        <p:nvSpPr>
          <p:cNvPr id="248" name="Google Shape;248;p16"/>
          <p:cNvSpPr/>
          <p:nvPr/>
        </p:nvSpPr>
        <p:spPr>
          <a:xfrm>
            <a:off x="5629417" y="1176286"/>
            <a:ext cx="4188535" cy="78790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Helvetica Neue"/>
              <a:buNone/>
            </a:pPr>
            <a:endParaRPr sz="5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16"/>
          <p:cNvSpPr/>
          <p:nvPr/>
        </p:nvSpPr>
        <p:spPr>
          <a:xfrm>
            <a:off x="5943511" y="1330399"/>
            <a:ext cx="3720520" cy="4216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Ubuntu"/>
              <a:buNone/>
            </a:pPr>
            <a:r>
              <a:rPr lang="en-US" sz="3000" b="1" i="0" u="none" strike="noStrike" cap="none" dirty="0" err="1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Actividades</a:t>
            </a:r>
            <a:r>
              <a:rPr lang="en-US" sz="3000" b="1" i="0" u="none" strike="noStrike" cap="none" dirty="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 Clave</a:t>
            </a:r>
            <a:endParaRPr dirty="0"/>
          </a:p>
        </p:txBody>
      </p:sp>
      <p:sp>
        <p:nvSpPr>
          <p:cNvPr id="250" name="Google Shape;250;p16"/>
          <p:cNvSpPr/>
          <p:nvPr/>
        </p:nvSpPr>
        <p:spPr>
          <a:xfrm>
            <a:off x="10118577" y="1176286"/>
            <a:ext cx="4179135" cy="78790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Helvetica Neue"/>
              <a:buNone/>
            </a:pPr>
            <a:endParaRPr sz="5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16"/>
          <p:cNvSpPr/>
          <p:nvPr/>
        </p:nvSpPr>
        <p:spPr>
          <a:xfrm>
            <a:off x="10329625" y="1317897"/>
            <a:ext cx="3666331" cy="4216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Ubuntu"/>
              <a:buNone/>
            </a:pPr>
            <a:r>
              <a:rPr lang="en-US" sz="3000" b="1" i="0" u="none" strike="noStrike" cap="none" dirty="0" err="1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Propuesta</a:t>
            </a:r>
            <a:r>
              <a:rPr lang="en-US" sz="3000" b="1" i="0" u="none" strike="noStrike" cap="none" dirty="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 de Valor</a:t>
            </a:r>
            <a:endParaRPr dirty="0"/>
          </a:p>
        </p:txBody>
      </p:sp>
      <p:sp>
        <p:nvSpPr>
          <p:cNvPr id="252" name="Google Shape;252;p16"/>
          <p:cNvSpPr/>
          <p:nvPr/>
        </p:nvSpPr>
        <p:spPr>
          <a:xfrm>
            <a:off x="14490503" y="1176103"/>
            <a:ext cx="4242317" cy="78834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Helvetica Neue"/>
              <a:buNone/>
            </a:pPr>
            <a:endParaRPr sz="5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16"/>
          <p:cNvSpPr/>
          <p:nvPr/>
        </p:nvSpPr>
        <p:spPr>
          <a:xfrm>
            <a:off x="14359900" y="1299144"/>
            <a:ext cx="4521605" cy="4216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Ubuntu"/>
              <a:buNone/>
            </a:pPr>
            <a:r>
              <a:rPr lang="en-US" sz="3000" b="1" i="0" u="none" strike="noStrike" cap="none" dirty="0" err="1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Relación</a:t>
            </a:r>
            <a:r>
              <a:rPr lang="en-US" sz="3000" b="1" i="0" u="none" strike="noStrike" cap="none" dirty="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 con </a:t>
            </a:r>
            <a:r>
              <a:rPr lang="en-US" sz="3000" b="1" i="0" u="none" strike="noStrike" cap="none" dirty="0" err="1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Clientes</a:t>
            </a:r>
            <a:endParaRPr dirty="0"/>
          </a:p>
        </p:txBody>
      </p:sp>
      <p:sp>
        <p:nvSpPr>
          <p:cNvPr id="254" name="Google Shape;254;p16"/>
          <p:cNvSpPr/>
          <p:nvPr/>
        </p:nvSpPr>
        <p:spPr>
          <a:xfrm>
            <a:off x="19011548" y="1176286"/>
            <a:ext cx="4188534" cy="78790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Helvetica Neue"/>
              <a:buNone/>
            </a:pPr>
            <a:endParaRPr sz="5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16"/>
          <p:cNvSpPr/>
          <p:nvPr/>
        </p:nvSpPr>
        <p:spPr>
          <a:xfrm>
            <a:off x="18950996" y="1317897"/>
            <a:ext cx="4302090" cy="4216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Ubuntu"/>
              <a:buNone/>
            </a:pPr>
            <a:r>
              <a:rPr lang="en-US" sz="3000" b="1" i="0" u="none" strike="noStrike" cap="none" dirty="0" err="1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Segmento</a:t>
            </a:r>
            <a:r>
              <a:rPr lang="en-US" sz="3000" b="1" i="0" u="none" strike="noStrike" cap="none" dirty="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 de </a:t>
            </a:r>
            <a:r>
              <a:rPr lang="en-US" sz="3000" b="1" i="0" u="none" strike="noStrike" cap="none" dirty="0" err="1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Clientes</a:t>
            </a:r>
            <a:endParaRPr lang="en-US" dirty="0"/>
          </a:p>
        </p:txBody>
      </p:sp>
      <p:sp>
        <p:nvSpPr>
          <p:cNvPr id="256" name="Google Shape;256;p16"/>
          <p:cNvSpPr/>
          <p:nvPr/>
        </p:nvSpPr>
        <p:spPr>
          <a:xfrm>
            <a:off x="5629417" y="5313606"/>
            <a:ext cx="4188535" cy="78790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Helvetica Neue"/>
              <a:buNone/>
            </a:pPr>
            <a:endParaRPr sz="5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16"/>
          <p:cNvSpPr/>
          <p:nvPr/>
        </p:nvSpPr>
        <p:spPr>
          <a:xfrm>
            <a:off x="6103015" y="5461558"/>
            <a:ext cx="3272630" cy="4216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Ubuntu"/>
              <a:buNone/>
            </a:pPr>
            <a:r>
              <a:rPr lang="en-US" sz="3000" b="1" i="0" u="none" strike="noStrike" cap="none" dirty="0" err="1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Recursos</a:t>
            </a:r>
            <a:r>
              <a:rPr lang="en-US" sz="3000" b="1" i="0" u="none" strike="noStrike" cap="none" dirty="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 Clave</a:t>
            </a:r>
            <a:endParaRPr dirty="0"/>
          </a:p>
        </p:txBody>
      </p:sp>
      <p:sp>
        <p:nvSpPr>
          <p:cNvPr id="258" name="Google Shape;258;p16"/>
          <p:cNvSpPr/>
          <p:nvPr/>
        </p:nvSpPr>
        <p:spPr>
          <a:xfrm>
            <a:off x="14525849" y="5313606"/>
            <a:ext cx="4188535" cy="78790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Helvetica Neue"/>
              <a:buNone/>
            </a:pPr>
            <a:endParaRPr sz="5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16"/>
          <p:cNvSpPr/>
          <p:nvPr/>
        </p:nvSpPr>
        <p:spPr>
          <a:xfrm>
            <a:off x="15261335" y="5461558"/>
            <a:ext cx="2694384" cy="4216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Ubuntu"/>
              <a:buNone/>
            </a:pPr>
            <a:r>
              <a:rPr lang="en-US" sz="3000" b="1" i="0" u="none" strike="noStrike" cap="none" dirty="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Canales</a:t>
            </a:r>
            <a:endParaRPr dirty="0"/>
          </a:p>
        </p:txBody>
      </p:sp>
      <p:sp>
        <p:nvSpPr>
          <p:cNvPr id="260" name="Google Shape;260;p16"/>
          <p:cNvSpPr/>
          <p:nvPr/>
        </p:nvSpPr>
        <p:spPr>
          <a:xfrm>
            <a:off x="1131507" y="9358818"/>
            <a:ext cx="10935339" cy="78790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Helvetica Neue"/>
              <a:buNone/>
            </a:pPr>
            <a:endParaRPr sz="5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16"/>
          <p:cNvSpPr/>
          <p:nvPr/>
        </p:nvSpPr>
        <p:spPr>
          <a:xfrm>
            <a:off x="4582767" y="9506373"/>
            <a:ext cx="4084637" cy="4216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Ubuntu"/>
              <a:buNone/>
            </a:pPr>
            <a:r>
              <a:rPr lang="en-US" sz="3000" b="1" i="0" u="none" strike="noStrike" cap="none" dirty="0" err="1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Estructura</a:t>
            </a:r>
            <a:r>
              <a:rPr lang="en-US" sz="3000" b="1" i="0" u="none" strike="noStrike" cap="none" dirty="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 de </a:t>
            </a:r>
            <a:r>
              <a:rPr lang="en-US" sz="3000" b="1" i="0" u="none" strike="noStrike" cap="none" dirty="0" err="1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Costes</a:t>
            </a:r>
            <a:endParaRPr dirty="0"/>
          </a:p>
        </p:txBody>
      </p:sp>
      <p:sp>
        <p:nvSpPr>
          <p:cNvPr id="262" name="Google Shape;262;p16"/>
          <p:cNvSpPr/>
          <p:nvPr/>
        </p:nvSpPr>
        <p:spPr>
          <a:xfrm>
            <a:off x="12264744" y="9358817"/>
            <a:ext cx="10935339" cy="78790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Helvetica Neue"/>
              <a:buNone/>
            </a:pPr>
            <a:endParaRPr sz="5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16"/>
          <p:cNvSpPr/>
          <p:nvPr/>
        </p:nvSpPr>
        <p:spPr>
          <a:xfrm>
            <a:off x="15229029" y="9506373"/>
            <a:ext cx="4982764" cy="4216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Ubuntu"/>
              <a:buNone/>
            </a:pPr>
            <a:r>
              <a:rPr lang="en-US" sz="3000" b="1" i="0" u="none" strike="noStrike" cap="none" dirty="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Fuentes de </a:t>
            </a:r>
            <a:r>
              <a:rPr lang="en-US" sz="3000" b="1" i="0" u="none" strike="noStrike" cap="none" dirty="0" err="1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Ingresos</a:t>
            </a:r>
            <a:endParaRPr dirty="0"/>
          </a:p>
        </p:txBody>
      </p:sp>
      <p:pic>
        <p:nvPicPr>
          <p:cNvPr id="3" name="Imagen 2">
            <a:hlinkClick r:id="rId3"/>
            <a:extLst>
              <a:ext uri="{FF2B5EF4-FFF2-40B4-BE49-F238E27FC236}">
                <a16:creationId xmlns:a16="http://schemas.microsoft.com/office/drawing/2014/main" id="{71849F26-696F-D116-89D6-D53C78C862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925014" y="12257014"/>
            <a:ext cx="1458986" cy="1458986"/>
          </a:xfrm>
          <a:prstGeom prst="rect">
            <a:avLst/>
          </a:prstGeom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11C688ED-6023-F935-8902-CAF92F0984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36815" y="2728283"/>
            <a:ext cx="4188534" cy="51706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Pymes:</a:t>
            </a:r>
            <a:r>
              <a:rPr kumimoji="0" lang="es-CO" altLang="es-CO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Buscan herramientas </a:t>
            </a:r>
            <a:r>
              <a:rPr kumimoji="0" lang="es-CO" altLang="es-CO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economicas</a:t>
            </a:r>
            <a:r>
              <a:rPr kumimoji="0" lang="es-CO" altLang="es-CO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y eficientes para aumentar su visibilidad publicitaria.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Agencias publicitarias:</a:t>
            </a:r>
            <a:r>
              <a:rPr kumimoji="0" lang="es-CO" altLang="es-CO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Necesitan gestionar campañas digitales de </a:t>
            </a:r>
            <a:r>
              <a:rPr kumimoji="0" lang="es-CO" altLang="es-CO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multiples</a:t>
            </a:r>
            <a:r>
              <a:rPr kumimoji="0" lang="es-CO" altLang="es-CO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clientes de manera centralizada.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Comercios minoristas:</a:t>
            </a:r>
            <a:r>
              <a:rPr kumimoji="0" lang="es-CO" altLang="es-CO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Requieren promocionar ofertas y productos de forma </a:t>
            </a:r>
            <a:r>
              <a:rPr kumimoji="0" lang="es-CO" altLang="es-CO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dinamica</a:t>
            </a:r>
            <a:r>
              <a:rPr kumimoji="0" lang="es-CO" altLang="es-CO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Instituciones educativas o culturales:</a:t>
            </a:r>
            <a:r>
              <a:rPr kumimoji="0" lang="es-CO" altLang="es-CO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Desean comunicar eventos y actividades de manera moderna y digital.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0BC2932C-9188-F500-5668-72328832352B}"/>
              </a:ext>
            </a:extLst>
          </p:cNvPr>
          <p:cNvSpPr txBox="1"/>
          <p:nvPr/>
        </p:nvSpPr>
        <p:spPr>
          <a:xfrm>
            <a:off x="5943511" y="1697227"/>
            <a:ext cx="3323361" cy="320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s-ES" sz="2200" b="1" dirty="0"/>
          </a:p>
          <a:p>
            <a:pPr>
              <a:buFont typeface="+mj-lt"/>
              <a:buAutoNum type="arabicPeriod"/>
            </a:pPr>
            <a:r>
              <a:rPr lang="es-ES" sz="1800" dirty="0"/>
              <a:t>Desarrollo y mantenimiento de la plataforma </a:t>
            </a:r>
            <a:r>
              <a:rPr lang="es-ES" sz="1800" dirty="0" err="1"/>
              <a:t>Inno</a:t>
            </a:r>
            <a:r>
              <a:rPr lang="es-ES" sz="1800" dirty="0"/>
              <a:t> Ad.</a:t>
            </a:r>
          </a:p>
          <a:p>
            <a:pPr>
              <a:buFont typeface="+mj-lt"/>
              <a:buAutoNum type="arabicPeriod"/>
            </a:pPr>
            <a:r>
              <a:rPr lang="es-ES" sz="1800" dirty="0" err="1"/>
              <a:t>Gestion</a:t>
            </a:r>
            <a:r>
              <a:rPr lang="es-ES" sz="1800" dirty="0"/>
              <a:t> de campañas publicitarias.</a:t>
            </a:r>
          </a:p>
          <a:p>
            <a:pPr>
              <a:buFont typeface="+mj-lt"/>
              <a:buAutoNum type="arabicPeriod"/>
            </a:pPr>
            <a:r>
              <a:rPr lang="es-ES" sz="1800" dirty="0"/>
              <a:t>Soporte </a:t>
            </a:r>
            <a:r>
              <a:rPr lang="es-ES" sz="1800" dirty="0" err="1"/>
              <a:t>tecnico</a:t>
            </a:r>
            <a:r>
              <a:rPr lang="es-ES" sz="1800" dirty="0"/>
              <a:t> y </a:t>
            </a:r>
            <a:r>
              <a:rPr lang="es-ES" sz="1800" dirty="0" err="1"/>
              <a:t>capacitacion</a:t>
            </a:r>
            <a:r>
              <a:rPr lang="es-ES" sz="1800" dirty="0"/>
              <a:t> a usuarios.</a:t>
            </a:r>
          </a:p>
          <a:p>
            <a:pPr>
              <a:buFont typeface="+mj-lt"/>
              <a:buAutoNum type="arabicPeriod"/>
            </a:pPr>
            <a:r>
              <a:rPr lang="es-ES" sz="1800" dirty="0" err="1"/>
              <a:t>Innovacion</a:t>
            </a:r>
            <a:r>
              <a:rPr lang="es-ES" sz="1800" dirty="0"/>
              <a:t> y mejora </a:t>
            </a:r>
            <a:r>
              <a:rPr lang="es-ES" sz="1800" dirty="0" err="1"/>
              <a:t>tecnologica</a:t>
            </a:r>
            <a:r>
              <a:rPr lang="es-ES" sz="1800" dirty="0"/>
              <a:t> continua.</a:t>
            </a:r>
          </a:p>
          <a:p>
            <a:pPr>
              <a:buFont typeface="+mj-lt"/>
              <a:buAutoNum type="arabicPeriod"/>
            </a:pPr>
            <a:r>
              <a:rPr lang="es-ES" sz="1800" dirty="0"/>
              <a:t>Marketing y </a:t>
            </a:r>
            <a:r>
              <a:rPr lang="es-ES" sz="1800" dirty="0" err="1"/>
              <a:t>promocion</a:t>
            </a:r>
            <a:r>
              <a:rPr lang="es-ES" sz="1800" dirty="0"/>
              <a:t> del servicio.</a:t>
            </a: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F2F16FF2-0D14-38C3-3A43-347B761563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58468" y="6237937"/>
            <a:ext cx="3922279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Tecnologia</a:t>
            </a:r>
            <a:r>
              <a:rPr kumimoji="0" lang="es-CO" altLang="es-CO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Servidores, software y herramientas de monitoreo.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Equipo humano: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Desarrolladores, soporte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tecnico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marketing.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Financiamiento: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Desarrollo inicial e infraestructura.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Conocimiento especializado: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Experiencia en publicidad y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tecnologia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221B2313-9C23-45D3-C8C1-713EFADC48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1301" y="2284571"/>
            <a:ext cx="3612368" cy="2800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Proveedores de hardware (pantallas, equipos).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Plataformas de servicios en la nube (AWS, Azure).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Agencias publicitarias como socios </a:t>
            </a:r>
            <a:r>
              <a:rPr kumimoji="0" lang="es-CO" altLang="es-CO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estrategicos</a:t>
            </a:r>
            <a:r>
              <a:rPr kumimoji="0" lang="es-CO" altLang="es-CO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Proveedores de internet para garantizar estabilidad.</a:t>
            </a:r>
          </a:p>
        </p:txBody>
      </p:sp>
      <p:sp>
        <p:nvSpPr>
          <p:cNvPr id="12" name="Rectangle 5">
            <a:extLst>
              <a:ext uri="{FF2B5EF4-FFF2-40B4-BE49-F238E27FC236}">
                <a16:creationId xmlns:a16="http://schemas.microsoft.com/office/drawing/2014/main" id="{F9725BD8-19FC-755F-1739-B6D048912DDC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4604387" y="1995280"/>
            <a:ext cx="4031457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Atencion personalizada:</a:t>
            </a:r>
            <a:r>
              <a:rPr kumimoji="0" lang="es-CO" altLang="es-CO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Adaptada a cada cliente desde el inicio.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Soporte tecnico:</a:t>
            </a:r>
            <a:r>
              <a:rPr kumimoji="0" lang="es-CO" altLang="es-CO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Rapido y multicanal.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Capacitacion:</a:t>
            </a:r>
            <a:r>
              <a:rPr kumimoji="0" lang="es-CO" altLang="es-CO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Guias y tutoriales para el uso del sistema.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Fidelizacion:</a:t>
            </a:r>
            <a:r>
              <a:rPr kumimoji="0" lang="es-CO" altLang="es-CO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Beneficios exclusivos para clientes recurrentes.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Comunicacion activa:</a:t>
            </a:r>
            <a:r>
              <a:rPr kumimoji="0" lang="es-CO" altLang="es-CO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Boletines, redes sociales, feedback constante.</a:t>
            </a:r>
          </a:p>
        </p:txBody>
      </p:sp>
      <p:sp>
        <p:nvSpPr>
          <p:cNvPr id="13" name="Rectangle 6">
            <a:extLst>
              <a:ext uri="{FF2B5EF4-FFF2-40B4-BE49-F238E27FC236}">
                <a16:creationId xmlns:a16="http://schemas.microsoft.com/office/drawing/2014/main" id="{9775F32F-1B93-5D99-2888-90B617C76E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12154" y="6100446"/>
            <a:ext cx="3767017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Plataforma web y aplicacion movil.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Marketing digital: redes sociales, SEO, correo electronico.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Demostraciones virtuales o presenciales.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Ventas directas con asesores especializados.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Alianzas con agencias y distribuidores.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3621B485-1748-4404-ABA1-9295B7C910AB}"/>
              </a:ext>
            </a:extLst>
          </p:cNvPr>
          <p:cNvSpPr txBox="1"/>
          <p:nvPr/>
        </p:nvSpPr>
        <p:spPr>
          <a:xfrm>
            <a:off x="1509191" y="10264447"/>
            <a:ext cx="12192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+mj-lt"/>
              <a:buAutoNum type="arabicPeriod"/>
            </a:pPr>
            <a:r>
              <a:rPr lang="es-ES" sz="1800" dirty="0"/>
              <a:t>Desarrollo de la plataforma.</a:t>
            </a:r>
          </a:p>
          <a:p>
            <a:pPr>
              <a:buFont typeface="+mj-lt"/>
              <a:buAutoNum type="arabicPeriod"/>
            </a:pPr>
            <a:r>
              <a:rPr lang="es-ES" sz="1800" dirty="0" err="1"/>
              <a:t>Adquisicion</a:t>
            </a:r>
            <a:r>
              <a:rPr lang="es-ES" sz="1800" dirty="0"/>
              <a:t> de hardware (pantallas, equipos).</a:t>
            </a:r>
          </a:p>
          <a:p>
            <a:pPr>
              <a:buFont typeface="+mj-lt"/>
              <a:buAutoNum type="arabicPeriod"/>
            </a:pPr>
            <a:r>
              <a:rPr lang="es-ES" sz="1800" dirty="0"/>
              <a:t>Servicios en la nube.</a:t>
            </a:r>
          </a:p>
          <a:p>
            <a:pPr>
              <a:buFont typeface="+mj-lt"/>
              <a:buAutoNum type="arabicPeriod"/>
            </a:pPr>
            <a:r>
              <a:rPr lang="es-ES" sz="1800" dirty="0"/>
              <a:t>Sueldos y costos operativos.</a:t>
            </a:r>
          </a:p>
          <a:p>
            <a:pPr>
              <a:buFont typeface="+mj-lt"/>
              <a:buAutoNum type="arabicPeriod"/>
            </a:pPr>
            <a:r>
              <a:rPr lang="es-ES" sz="1800" dirty="0"/>
              <a:t>Marketing y </a:t>
            </a:r>
            <a:r>
              <a:rPr lang="es-ES" sz="1800" dirty="0" err="1"/>
              <a:t>promocion</a:t>
            </a:r>
            <a:r>
              <a:rPr lang="es-ES" sz="1800" dirty="0"/>
              <a:t>.</a:t>
            </a:r>
          </a:p>
          <a:p>
            <a:pPr>
              <a:buFont typeface="+mj-lt"/>
              <a:buAutoNum type="arabicPeriod"/>
            </a:pPr>
            <a:r>
              <a:rPr lang="es-ES" sz="1800" dirty="0"/>
              <a:t>Gastos administrativos.</a:t>
            </a:r>
          </a:p>
        </p:txBody>
      </p:sp>
      <p:sp>
        <p:nvSpPr>
          <p:cNvPr id="18" name="Rectangle 7">
            <a:extLst>
              <a:ext uri="{FF2B5EF4-FFF2-40B4-BE49-F238E27FC236}">
                <a16:creationId xmlns:a16="http://schemas.microsoft.com/office/drawing/2014/main" id="{07B3B8A8-91AD-BC44-F3B7-6D3F9720A2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60400" y="10331746"/>
            <a:ext cx="8989184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Suscripciones: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Cobros por uso mensual/anual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segun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funciones.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Implementacion</a:t>
            </a:r>
            <a:r>
              <a:rPr kumimoji="0" lang="es-CO" altLang="es-CO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inicial: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Tarifas por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instalacion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y hardware.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Servicios adicionales: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Diseno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campañas, soporte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tecnico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Publicidad </a:t>
            </a:r>
            <a:r>
              <a:rPr kumimoji="0" lang="es-CO" altLang="es-CO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programatica</a:t>
            </a:r>
            <a:r>
              <a:rPr kumimoji="0" lang="es-CO" altLang="es-CO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Venta de espacios en pantallas.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Consultorias</a:t>
            </a:r>
            <a:r>
              <a:rPr kumimoji="0" lang="es-CO" altLang="es-CO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personalizadas: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Asesoramiento para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optimizacion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ew_Template8">
  <a:themeElements>
    <a:clrScheme name="Custom 105">
      <a:dk1>
        <a:srgbClr val="2F3030"/>
      </a:dk1>
      <a:lt1>
        <a:srgbClr val="FEFFFF"/>
      </a:lt1>
      <a:dk2>
        <a:srgbClr val="2F3030"/>
      </a:dk2>
      <a:lt2>
        <a:srgbClr val="FEFFFF"/>
      </a:lt2>
      <a:accent1>
        <a:srgbClr val="FEFFFF"/>
      </a:accent1>
      <a:accent2>
        <a:srgbClr val="F4F4F4"/>
      </a:accent2>
      <a:accent3>
        <a:srgbClr val="E1E1E3"/>
      </a:accent3>
      <a:accent4>
        <a:srgbClr val="C4C2C2"/>
      </a:accent4>
      <a:accent5>
        <a:srgbClr val="A19F9F"/>
      </a:accent5>
      <a:accent6>
        <a:srgbClr val="FFE6C4"/>
      </a:accent6>
      <a:hlink>
        <a:srgbClr val="E1E1E3"/>
      </a:hlink>
      <a:folHlink>
        <a:srgbClr val="C4C2C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New_Template8">
  <a:themeElements>
    <a:clrScheme name="New_Template8">
      <a:dk1>
        <a:srgbClr val="000000"/>
      </a:dk1>
      <a:lt1>
        <a:srgbClr val="FFFFFF"/>
      </a:lt1>
      <a:dk2>
        <a:srgbClr val="5B5854"/>
      </a:dk2>
      <a:lt2>
        <a:srgbClr val="C9C3BA"/>
      </a:lt2>
      <a:accent1>
        <a:srgbClr val="708CA5"/>
      </a:accent1>
      <a:accent2>
        <a:srgbClr val="80A7A7"/>
      </a:accent2>
      <a:accent3>
        <a:srgbClr val="98A66D"/>
      </a:accent3>
      <a:accent4>
        <a:srgbClr val="CF9E5B"/>
      </a:accent4>
      <a:accent5>
        <a:srgbClr val="C87C6D"/>
      </a:accent5>
      <a:accent6>
        <a:srgbClr val="837B9A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389</Words>
  <Application>Microsoft Office PowerPoint</Application>
  <PresentationFormat>Personalizado</PresentationFormat>
  <Paragraphs>49</Paragraphs>
  <Slides>1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Ubuntu</vt:lpstr>
      <vt:lpstr>Helvetica Neue</vt:lpstr>
      <vt:lpstr>Arial</vt:lpstr>
      <vt:lpstr>New_Template8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Usuario</dc:creator>
  <cp:lastModifiedBy>Cristopfer Bueno Gañan</cp:lastModifiedBy>
  <cp:revision>4</cp:revision>
  <dcterms:modified xsi:type="dcterms:W3CDTF">2025-03-04T13:53:15Z</dcterms:modified>
</cp:coreProperties>
</file>